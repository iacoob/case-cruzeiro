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70" r:id="rId5"/>
    <p:sldId id="259" r:id="rId6"/>
    <p:sldId id="269" r:id="rId7"/>
    <p:sldId id="271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1C13D-A606-9F65-9D2E-205E6FAEBCC4}" v="67" dt="2026-01-28T16:42:41.818"/>
    <p1510:client id="{CE0311A9-A0DC-40E4-BFD4-CB2E12A8E066}" v="646" dt="2026-01-28T12:26:18.386"/>
    <p1510:client id="{F5ACBE27-BAAA-280C-4235-7BD6A8C360CD}" v="9" dt="2026-01-28T15:47:57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3507" y="2807178"/>
            <a:ext cx="6176947" cy="95410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800" b="1">
                <a:solidFill>
                  <a:srgbClr val="003C78"/>
                </a:solidFill>
              </a:defRPr>
            </a:pPr>
            <a:r>
              <a:t>Case – Engenheiro de Dados Especialista</a:t>
            </a:r>
            <a:br>
              <a:rPr/>
            </a:br>
            <a:r>
              <a:t>Marketing </a:t>
            </a:r>
            <a:r>
              <a:rPr err="1"/>
              <a:t>Analytics</a:t>
            </a:r>
            <a:endParaRPr lang="pt-BR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720000"/>
            <a:ext cx="864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C78"/>
                </a:solidFill>
              </a:defRPr>
            </a:pPr>
            <a:r>
              <a:t>Objetivo do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206" y="1455535"/>
            <a:ext cx="7371295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400"/>
            </a:pPr>
            <a:r>
              <a:rPr lang="en-US" sz="1600" err="1">
                <a:ea typeface="+mn-lt"/>
                <a:cs typeface="+mn-lt"/>
              </a:rPr>
              <a:t>Integrar</a:t>
            </a:r>
            <a:r>
              <a:rPr lang="en-US" sz="1600">
                <a:ea typeface="+mn-lt"/>
                <a:cs typeface="+mn-lt"/>
              </a:rPr>
              <a:t> dados de </a:t>
            </a:r>
            <a:r>
              <a:rPr lang="en-US" sz="1600" b="1">
                <a:ea typeface="+mn-lt"/>
                <a:cs typeface="+mn-lt"/>
              </a:rPr>
              <a:t>CRM, Google Analytics e </a:t>
            </a:r>
            <a:r>
              <a:rPr lang="en-US" sz="1600" b="1" err="1">
                <a:ea typeface="+mn-lt"/>
                <a:cs typeface="+mn-lt"/>
              </a:rPr>
              <a:t>Funil</a:t>
            </a:r>
            <a:r>
              <a:rPr lang="en-US" sz="1600" b="1">
                <a:ea typeface="+mn-lt"/>
                <a:cs typeface="+mn-lt"/>
              </a:rPr>
              <a:t> de </a:t>
            </a:r>
            <a:r>
              <a:rPr lang="en-US" sz="1600" b="1" err="1">
                <a:ea typeface="+mn-lt"/>
                <a:cs typeface="+mn-lt"/>
              </a:rPr>
              <a:t>Vendas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em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uma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visão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única</a:t>
            </a:r>
            <a:r>
              <a:rPr lang="en-US" sz="1600">
                <a:ea typeface="+mn-lt"/>
                <a:cs typeface="+mn-lt"/>
              </a:rPr>
              <a:t> e </a:t>
            </a:r>
            <a:r>
              <a:rPr lang="en-US" sz="1600" err="1">
                <a:ea typeface="+mn-lt"/>
                <a:cs typeface="+mn-lt"/>
              </a:rPr>
              <a:t>confiável</a:t>
            </a:r>
            <a:r>
              <a:rPr lang="en-US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  <a:defRPr sz="1400"/>
            </a:pPr>
            <a:r>
              <a:rPr lang="en-US" sz="1600" err="1">
                <a:ea typeface="+mn-lt"/>
                <a:cs typeface="+mn-lt"/>
              </a:rPr>
              <a:t>Construir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uma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camada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analítica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orientada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ao</a:t>
            </a:r>
            <a:r>
              <a:rPr lang="en-US" sz="1600" b="1">
                <a:ea typeface="+mn-lt"/>
                <a:cs typeface="+mn-lt"/>
              </a:rPr>
              <a:t> marketing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suportando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decisões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estratégicas</a:t>
            </a:r>
            <a:r>
              <a:rPr lang="en-US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  <a:defRPr sz="1400"/>
            </a:pPr>
            <a:r>
              <a:rPr lang="en-US" sz="1600">
                <a:ea typeface="+mn-lt"/>
                <a:cs typeface="+mn-lt"/>
              </a:rPr>
              <a:t>Responder </a:t>
            </a:r>
            <a:r>
              <a:rPr lang="en-US" sz="1600" err="1">
                <a:ea typeface="+mn-lt"/>
                <a:cs typeface="+mn-lt"/>
              </a:rPr>
              <a:t>métricas-chave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como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>
                <a:ea typeface="+mn-lt"/>
                <a:cs typeface="+mn-lt"/>
              </a:rPr>
              <a:t>taxa de </a:t>
            </a:r>
            <a:r>
              <a:rPr lang="en-US" sz="1600" b="1" err="1">
                <a:ea typeface="+mn-lt"/>
                <a:cs typeface="+mn-lt"/>
              </a:rPr>
              <a:t>conversão</a:t>
            </a:r>
            <a:r>
              <a:rPr lang="en-US" sz="1600" b="1">
                <a:ea typeface="+mn-lt"/>
                <a:cs typeface="+mn-lt"/>
              </a:rPr>
              <a:t>, tempo </a:t>
            </a:r>
            <a:r>
              <a:rPr lang="en-US" sz="1600" b="1" err="1">
                <a:ea typeface="+mn-lt"/>
                <a:cs typeface="+mn-lt"/>
              </a:rPr>
              <a:t>até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conversão</a:t>
            </a:r>
            <a:r>
              <a:rPr lang="en-US" sz="1600" b="1">
                <a:ea typeface="+mn-lt"/>
                <a:cs typeface="+mn-lt"/>
              </a:rPr>
              <a:t> e </a:t>
            </a:r>
            <a:r>
              <a:rPr lang="en-US" sz="1600" b="1" err="1">
                <a:ea typeface="+mn-lt"/>
                <a:cs typeface="+mn-lt"/>
              </a:rPr>
              <a:t>eficiência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por</a:t>
            </a:r>
            <a:r>
              <a:rPr lang="en-US" sz="1600" b="1">
                <a:ea typeface="+mn-lt"/>
                <a:cs typeface="+mn-lt"/>
              </a:rPr>
              <a:t> canal</a:t>
            </a:r>
            <a:r>
              <a:rPr lang="en-US" sz="16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  <a:defRPr sz="1400"/>
            </a:pPr>
            <a:r>
              <a:rPr lang="en-US" sz="1600" err="1">
                <a:ea typeface="+mn-lt"/>
                <a:cs typeface="+mn-lt"/>
              </a:rPr>
              <a:t>Implementar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uma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arquitetura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analítica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escalável</a:t>
            </a:r>
            <a:r>
              <a:rPr lang="en-US" sz="1600" b="1">
                <a:ea typeface="+mn-lt"/>
                <a:cs typeface="+mn-lt"/>
              </a:rPr>
              <a:t> e moderna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baseada</a:t>
            </a:r>
            <a:r>
              <a:rPr lang="en-US" sz="1600">
                <a:ea typeface="+mn-lt"/>
                <a:cs typeface="+mn-lt"/>
              </a:rPr>
              <a:t> no </a:t>
            </a:r>
            <a:r>
              <a:rPr lang="en-US" sz="1600" b="1">
                <a:ea typeface="+mn-lt"/>
                <a:cs typeface="+mn-lt"/>
              </a:rPr>
              <a:t>Google Cloud Platform (GCP)</a:t>
            </a:r>
            <a:r>
              <a:rPr lang="en-US" sz="1600">
                <a:ea typeface="+mn-lt"/>
                <a:cs typeface="+mn-lt"/>
              </a:rPr>
              <a:t>.</a:t>
            </a:r>
            <a:endParaRPr lang="pt-BR" sz="1600">
              <a:ea typeface="Calibri"/>
              <a:cs typeface="Calibri"/>
            </a:endParaRPr>
          </a:p>
          <a:p>
            <a:pPr>
              <a:defRPr sz="1400"/>
            </a:pPr>
            <a:endParaRPr sz="1600">
              <a:ea typeface="Calibri"/>
              <a:cs typeface="Calibr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5306DFB-D5D9-BB90-7784-08EF9D4167BA}"/>
              </a:ext>
            </a:extLst>
          </p:cNvPr>
          <p:cNvSpPr txBox="1"/>
          <p:nvPr/>
        </p:nvSpPr>
        <p:spPr>
          <a:xfrm>
            <a:off x="715825" y="3575934"/>
            <a:ext cx="864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C78"/>
                </a:solidFill>
              </a:defRPr>
            </a:pPr>
            <a:r>
              <a:t>Fontes de Dados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2797E8D-9BDD-FBD5-1B4A-BDBEF32107A1}"/>
              </a:ext>
            </a:extLst>
          </p:cNvPr>
          <p:cNvSpPr txBox="1"/>
          <p:nvPr/>
        </p:nvSpPr>
        <p:spPr>
          <a:xfrm>
            <a:off x="177205" y="4263452"/>
            <a:ext cx="5718854" cy="8771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400"/>
            </a:pPr>
            <a:r>
              <a:rPr sz="1700" b="1"/>
              <a:t>CRM</a:t>
            </a:r>
            <a:r>
              <a:rPr sz="1700"/>
              <a:t>: leads, clientes, origem e captação.</a:t>
            </a:r>
            <a:endParaRPr lang="pt-BR" sz="1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400"/>
            </a:pPr>
            <a:r>
              <a:rPr sz="1700" b="1"/>
              <a:t>Google Analytics:</a:t>
            </a:r>
            <a:r>
              <a:rPr sz="1700"/>
              <a:t> </a:t>
            </a:r>
            <a:r>
              <a:rPr sz="1700" err="1"/>
              <a:t>sessões</a:t>
            </a:r>
            <a:r>
              <a:rPr sz="1700"/>
              <a:t>, </a:t>
            </a:r>
            <a:r>
              <a:rPr sz="1700" err="1"/>
              <a:t>campanhas</a:t>
            </a:r>
            <a:r>
              <a:rPr sz="1700"/>
              <a:t> e </a:t>
            </a:r>
            <a:r>
              <a:rPr sz="1700" err="1"/>
              <a:t>navegação</a:t>
            </a:r>
            <a:r>
              <a:rPr sz="1700"/>
              <a:t>.</a:t>
            </a:r>
            <a:endParaRPr sz="1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400"/>
            </a:pPr>
            <a:r>
              <a:rPr sz="1700" b="1" err="1"/>
              <a:t>Funil</a:t>
            </a:r>
            <a:r>
              <a:rPr sz="1700" b="1"/>
              <a:t> de </a:t>
            </a:r>
            <a:r>
              <a:rPr sz="1700" b="1" err="1"/>
              <a:t>Vendas</a:t>
            </a:r>
            <a:r>
              <a:rPr sz="1700" b="1"/>
              <a:t>:</a:t>
            </a:r>
            <a:r>
              <a:rPr sz="1700"/>
              <a:t> </a:t>
            </a:r>
            <a:r>
              <a:rPr sz="1700" err="1"/>
              <a:t>etapas</a:t>
            </a:r>
            <a:r>
              <a:rPr sz="1700"/>
              <a:t> e </a:t>
            </a:r>
            <a:r>
              <a:rPr sz="1700" err="1"/>
              <a:t>eventos</a:t>
            </a:r>
            <a:r>
              <a:rPr sz="1700"/>
              <a:t>.</a:t>
            </a:r>
            <a:endParaRPr sz="17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720000"/>
            <a:ext cx="9360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C78"/>
                </a:solidFill>
              </a:defRPr>
            </a:pPr>
            <a:r>
              <a:t>Estrutura das Tabelas – RAW (externas) e 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658" y="1518164"/>
            <a:ext cx="6009287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rPr b="1"/>
              <a:t>RAW </a:t>
            </a:r>
            <a:r>
              <a:t>(</a:t>
            </a:r>
            <a:r>
              <a:rPr err="1"/>
              <a:t>raw_case</a:t>
            </a:r>
            <a:r>
              <a:t>.*_</a:t>
            </a:r>
            <a:r>
              <a:rPr err="1"/>
              <a:t>ext</a:t>
            </a:r>
            <a:r>
              <a:t>): </a:t>
            </a:r>
            <a:r>
              <a:rPr err="1"/>
              <a:t>tabelas</a:t>
            </a:r>
            <a:r>
              <a:t> </a:t>
            </a:r>
            <a:r>
              <a:rPr err="1"/>
              <a:t>externas</a:t>
            </a:r>
            <a:r>
              <a:t> </a:t>
            </a:r>
            <a:r>
              <a:rPr err="1"/>
              <a:t>sobre</a:t>
            </a:r>
            <a:r>
              <a:t> CSV no GCS (</a:t>
            </a:r>
            <a:r>
              <a:rPr err="1"/>
              <a:t>sem</a:t>
            </a:r>
            <a:r>
              <a:t> </a:t>
            </a:r>
            <a:r>
              <a:rPr err="1"/>
              <a:t>transformação</a:t>
            </a:r>
            <a:r>
              <a:t>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rPr b="1"/>
              <a:t>SILVER </a:t>
            </a:r>
            <a:r>
              <a:t>(</a:t>
            </a:r>
            <a:r>
              <a:rPr err="1"/>
              <a:t>silver_case</a:t>
            </a:r>
            <a:r>
              <a:t>.*): dados </a:t>
            </a:r>
            <a:r>
              <a:rPr err="1"/>
              <a:t>tipados</a:t>
            </a:r>
            <a:r>
              <a:t>, </a:t>
            </a:r>
            <a:r>
              <a:rPr err="1"/>
              <a:t>deduplicados</a:t>
            </a:r>
            <a:r>
              <a:t> e </a:t>
            </a:r>
            <a:r>
              <a:rPr err="1"/>
              <a:t>padronizados</a:t>
            </a:r>
            <a:r>
              <a:t> (</a:t>
            </a:r>
            <a:r>
              <a:rPr err="1"/>
              <a:t>contrato</a:t>
            </a:r>
            <a:r>
              <a:rPr lang="pt-BR"/>
              <a:t> </a:t>
            </a:r>
            <a:r>
              <a:rPr err="1"/>
              <a:t>interno</a:t>
            </a:r>
            <a:r>
              <a:t>).</a:t>
            </a:r>
            <a:endParaRPr>
              <a:ea typeface="Calibri"/>
              <a:cs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512391"/>
              </p:ext>
            </p:extLst>
          </p:nvPr>
        </p:nvGraphicFramePr>
        <p:xfrm>
          <a:off x="344219" y="2712986"/>
          <a:ext cx="8532264" cy="291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330">
                <a:tc>
                  <a:txBody>
                    <a:bodyPr/>
                    <a:lstStyle/>
                    <a:p>
                      <a:r>
                        <a:rPr sz="1000" b="1" err="1">
                          <a:solidFill>
                            <a:srgbClr val="FFFFFF"/>
                          </a:solidFill>
                        </a:rPr>
                        <a:t>Tabela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err="1">
                          <a:solidFill>
                            <a:srgbClr val="FFFFFF"/>
                          </a:solidFill>
                        </a:rPr>
                        <a:t>Grão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Chave(s)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Campos </a:t>
                      </a:r>
                      <a:r>
                        <a:rPr sz="1000" b="1" err="1">
                          <a:solidFill>
                            <a:srgbClr val="FFFFFF"/>
                          </a:solidFill>
                        </a:rPr>
                        <a:t>principais</a:t>
                      </a:r>
                      <a:r>
                        <a:rPr sz="1000" b="1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sz="1000" b="1" err="1">
                          <a:solidFill>
                            <a:srgbClr val="FFFFFF"/>
                          </a:solidFill>
                        </a:rPr>
                        <a:t>exemplos</a:t>
                      </a:r>
                      <a:r>
                        <a:rPr sz="1000" b="1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r>
                        <a:rPr sz="1400" b="1" err="1">
                          <a:solidFill>
                            <a:srgbClr val="1E1E1E"/>
                          </a:solidFill>
                        </a:rPr>
                        <a:t>raw_case.crm_leads_ext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linha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por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lead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lead_id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lead_created_at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</a:t>
                      </a:r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first_touch_ts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channel/source/medium/campaign, </a:t>
                      </a:r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captured_via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city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r>
                        <a:rPr sz="1400" b="1" err="1">
                          <a:solidFill>
                            <a:srgbClr val="1E1E1E"/>
                          </a:solidFill>
                          <a:latin typeface="Calibri"/>
                        </a:rPr>
                        <a:t>raw_case.ga_sessions_ext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linha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por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sessão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session_id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,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lead_id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session_start_ts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</a:t>
                      </a:r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landing_page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pageviews, </a:t>
                      </a:r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engagement_seconds</a:t>
                      </a:r>
                      <a:r>
                        <a:rPr sz="1200" b="0">
                          <a:solidFill>
                            <a:srgbClr val="1E1E1E"/>
                          </a:solidFill>
                        </a:rPr>
                        <a:t>, source/medium/campaign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r>
                        <a:rPr sz="1400" b="1" err="1">
                          <a:solidFill>
                            <a:srgbClr val="1E1E1E"/>
                          </a:solidFill>
                        </a:rPr>
                        <a:t>raw_case.funnel_events_ext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linha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por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lead_id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, </a:t>
                      </a:r>
                      <a:r>
                        <a:rPr sz="1400" b="0" err="1">
                          <a:solidFill>
                            <a:srgbClr val="1E1E1E"/>
                          </a:solidFill>
                        </a:rPr>
                        <a:t>event_ts</a:t>
                      </a:r>
                      <a:r>
                        <a:rPr sz="1400" b="0">
                          <a:solidFill>
                            <a:srgbClr val="1E1E1E"/>
                          </a:solidFill>
                        </a:rPr>
                        <a:t>, stage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stage (MQL/SQL/PROPOSAL/WON), </a:t>
                      </a:r>
                      <a:r>
                        <a:rPr sz="1200" b="0" err="1">
                          <a:solidFill>
                            <a:srgbClr val="1E1E1E"/>
                          </a:solidFill>
                        </a:rPr>
                        <a:t>is_conversion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6822" y="177205"/>
            <a:ext cx="56439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C78"/>
                </a:solidFill>
              </a:defRPr>
            </a:pPr>
            <a:r>
              <a:t>Arquitetura – Desenho (GCP → BigQuery → BI)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644" y="5536767"/>
            <a:ext cx="8781571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rPr b="1" err="1"/>
              <a:t>Governança</a:t>
            </a:r>
            <a:r>
              <a:rPr b="1"/>
              <a:t>: IAM (</a:t>
            </a:r>
            <a:r>
              <a:rPr b="1" err="1"/>
              <a:t>mínimo</a:t>
            </a:r>
            <a:r>
              <a:rPr b="1"/>
              <a:t> </a:t>
            </a:r>
            <a:r>
              <a:rPr b="1" err="1"/>
              <a:t>privilégio</a:t>
            </a:r>
            <a:r>
              <a:rPr b="1"/>
              <a:t>), Data Catalog (</a:t>
            </a:r>
            <a:r>
              <a:rPr b="1" err="1"/>
              <a:t>glossário</a:t>
            </a:r>
            <a:r>
              <a:rPr b="1"/>
              <a:t>/</a:t>
            </a:r>
            <a:r>
              <a:rPr b="1" err="1"/>
              <a:t>linhagem</a:t>
            </a:r>
            <a:r>
              <a:rPr b="1"/>
              <a:t>), </a:t>
            </a:r>
            <a:r>
              <a:rPr b="1" err="1"/>
              <a:t>monitoramento</a:t>
            </a:r>
            <a:r>
              <a:rPr b="1"/>
              <a:t> (Logging/Monitoring), views </a:t>
            </a:r>
            <a:r>
              <a:rPr b="1" err="1"/>
              <a:t>autorizadas</a:t>
            </a:r>
            <a:r>
              <a:rPr b="1"/>
              <a:t> (RLS/CLS se PII).</a:t>
            </a:r>
            <a:endParaRPr lang="pt-BR" b="1">
              <a:ea typeface="Calibri"/>
              <a:cs typeface="Calibri"/>
            </a:endParaRPr>
          </a:p>
        </p:txBody>
      </p:sp>
      <p:pic>
        <p:nvPicPr>
          <p:cNvPr id="18" name="Imagem 17" descr="Diagrama&#10;&#10;O conteúdo gerado por IA pode estar incorreto.">
            <a:extLst>
              <a:ext uri="{FF2B5EF4-FFF2-40B4-BE49-F238E27FC236}">
                <a16:creationId xmlns:a16="http://schemas.microsoft.com/office/drawing/2014/main" id="{03F8D28D-8B3F-1563-011C-115FAA578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28" y="803559"/>
            <a:ext cx="7113086" cy="47289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6511" y="292027"/>
            <a:ext cx="2520242" cy="4308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200" b="1">
                <a:solidFill>
                  <a:srgbClr val="003C78"/>
                </a:solidFill>
              </a:defRPr>
            </a:pPr>
            <a:r>
              <a:rPr lang="pt-BR"/>
              <a:t>Camadas dos Dados</a:t>
            </a:r>
            <a:endParaRPr lang="pt-BR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9479" y="1340712"/>
            <a:ext cx="3055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Dados </a:t>
            </a:r>
            <a:r>
              <a:rPr err="1"/>
              <a:t>brutos</a:t>
            </a:r>
            <a:r>
              <a:t>, </a:t>
            </a:r>
            <a:r>
              <a:rPr err="1"/>
              <a:t>sem</a:t>
            </a:r>
            <a:r>
              <a:t> </a:t>
            </a:r>
            <a:r>
              <a:rPr err="1"/>
              <a:t>transformação</a:t>
            </a:r>
            <a:r>
              <a:t>.</a:t>
            </a:r>
          </a:p>
          <a:p>
            <a:pPr>
              <a:defRPr sz="1400"/>
            </a:pPr>
            <a:r>
              <a:t>Base para auditoria e </a:t>
            </a:r>
            <a:r>
              <a:rPr err="1"/>
              <a:t>reprocessamento</a:t>
            </a:r>
            <a:r>
              <a:t>.</a:t>
            </a:r>
          </a:p>
          <a:p>
            <a:pPr>
              <a:defRPr sz="1400"/>
            </a:pPr>
            <a:r>
              <a:t>Não utilizada para BI.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4EA6A2-7D73-C5ED-F2DB-D7AE34B6FEDC}"/>
              </a:ext>
            </a:extLst>
          </p:cNvPr>
          <p:cNvSpPr txBox="1"/>
          <p:nvPr/>
        </p:nvSpPr>
        <p:spPr>
          <a:xfrm>
            <a:off x="438411" y="882041"/>
            <a:ext cx="1868466" cy="44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3C78"/>
                </a:solidFill>
                <a:latin typeface="Calibri"/>
              </a:rPr>
              <a:t>Bronze (As Is)</a:t>
            </a:r>
            <a:endParaRPr lang="en-US" sz="2200" b="1">
              <a:solidFill>
                <a:srgbClr val="003C78"/>
              </a:solidFill>
              <a:ea typeface="Calibri"/>
              <a:cs typeface="Calibri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F8EE173-650E-7154-EF27-3DBFA43A2017}"/>
              </a:ext>
            </a:extLst>
          </p:cNvPr>
          <p:cNvSpPr txBox="1"/>
          <p:nvPr/>
        </p:nvSpPr>
        <p:spPr>
          <a:xfrm>
            <a:off x="427725" y="2624629"/>
            <a:ext cx="3055480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/>
            </a:pPr>
            <a:r>
              <a:rPr lang="en-US">
                <a:ea typeface="Calibri"/>
                <a:cs typeface="Calibri"/>
              </a:rPr>
              <a:t>Dados </a:t>
            </a:r>
            <a:r>
              <a:rPr lang="en-US" err="1">
                <a:ea typeface="Calibri"/>
                <a:cs typeface="Calibri"/>
              </a:rPr>
              <a:t>limpos</a:t>
            </a:r>
            <a:r>
              <a:rPr lang="en-US">
                <a:ea typeface="Calibri"/>
                <a:cs typeface="Calibri"/>
              </a:rPr>
              <a:t>, </a:t>
            </a:r>
            <a:r>
              <a:rPr lang="en-US" err="1">
                <a:ea typeface="Calibri"/>
                <a:cs typeface="Calibri"/>
              </a:rPr>
              <a:t>tipados</a:t>
            </a:r>
            <a:r>
              <a:rPr lang="en-US">
                <a:ea typeface="Calibri"/>
                <a:cs typeface="Calibri"/>
              </a:rPr>
              <a:t> e </a:t>
            </a:r>
            <a:r>
              <a:rPr lang="en-US" err="1">
                <a:ea typeface="Calibri"/>
                <a:cs typeface="Calibri"/>
              </a:rPr>
              <a:t>deduplicados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pPr>
              <a:defRPr sz="1400"/>
            </a:pPr>
            <a:r>
              <a:rPr lang="en-US" err="1">
                <a:ea typeface="Calibri"/>
                <a:cs typeface="Calibri"/>
              </a:rPr>
              <a:t>Contrato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interno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reutilizável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pPr>
              <a:defRPr sz="1400"/>
            </a:pPr>
            <a:r>
              <a:rPr lang="en-US">
                <a:ea typeface="Calibri"/>
                <a:cs typeface="Calibri"/>
              </a:rPr>
              <a:t>Base para analytics e </a:t>
            </a:r>
            <a:r>
              <a:rPr lang="en-US" err="1">
                <a:ea typeface="Calibri"/>
                <a:cs typeface="Calibri"/>
              </a:rPr>
              <a:t>ciência</a:t>
            </a:r>
            <a:r>
              <a:rPr lang="en-US">
                <a:ea typeface="Calibri"/>
                <a:cs typeface="Calibri"/>
              </a:rPr>
              <a:t> de dados.</a:t>
            </a:r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C891F5-7D2E-555E-F785-CC4924243191}"/>
              </a:ext>
            </a:extLst>
          </p:cNvPr>
          <p:cNvSpPr txBox="1"/>
          <p:nvPr/>
        </p:nvSpPr>
        <p:spPr>
          <a:xfrm>
            <a:off x="438411" y="2186835"/>
            <a:ext cx="123172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3C78"/>
                </a:solidFill>
                <a:latin typeface="Calibri"/>
              </a:rPr>
              <a:t>Silver</a:t>
            </a:r>
            <a:endParaRPr lang="pt-BR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99D1BC3-7507-FDC4-EE30-83C289CD7BFB}"/>
              </a:ext>
            </a:extLst>
          </p:cNvPr>
          <p:cNvSpPr txBox="1"/>
          <p:nvPr/>
        </p:nvSpPr>
        <p:spPr>
          <a:xfrm>
            <a:off x="469477" y="3950300"/>
            <a:ext cx="3055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/>
            </a:pPr>
            <a:r>
              <a:rPr lang="en-US">
                <a:ea typeface="Calibri"/>
                <a:cs typeface="Calibri"/>
              </a:rPr>
              <a:t>Dados </a:t>
            </a:r>
            <a:r>
              <a:rPr lang="en-US" err="1">
                <a:ea typeface="Calibri"/>
                <a:cs typeface="Calibri"/>
              </a:rPr>
              <a:t>prontos</a:t>
            </a:r>
            <a:r>
              <a:rPr lang="en-US">
                <a:ea typeface="Calibri"/>
                <a:cs typeface="Calibri"/>
              </a:rPr>
              <a:t> para </a:t>
            </a:r>
            <a:r>
              <a:rPr lang="en-US" err="1">
                <a:ea typeface="Calibri"/>
                <a:cs typeface="Calibri"/>
              </a:rPr>
              <a:t>consumo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analítico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pPr>
              <a:defRPr sz="1400"/>
            </a:pPr>
            <a:r>
              <a:rPr lang="en-US">
                <a:ea typeface="Calibri"/>
                <a:cs typeface="Calibri"/>
              </a:rPr>
              <a:t>Regra de negócio aplicada</a:t>
            </a:r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5AA295-8CED-BF0E-884D-C66245C61A96}"/>
              </a:ext>
            </a:extLst>
          </p:cNvPr>
          <p:cNvSpPr txBox="1"/>
          <p:nvPr/>
        </p:nvSpPr>
        <p:spPr>
          <a:xfrm>
            <a:off x="448850" y="3449875"/>
            <a:ext cx="139874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3C78"/>
                </a:solidFill>
                <a:latin typeface="Calibri"/>
              </a:rPr>
              <a:t>Gold</a:t>
            </a:r>
            <a:endParaRPr lang="pt-BR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EC44962F-B927-9BD8-CAF2-37E178C9CA20}"/>
              </a:ext>
            </a:extLst>
          </p:cNvPr>
          <p:cNvSpPr txBox="1"/>
          <p:nvPr/>
        </p:nvSpPr>
        <p:spPr>
          <a:xfrm>
            <a:off x="4811835" y="1559916"/>
            <a:ext cx="4005369" cy="41857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/>
            </a:pPr>
            <a:r>
              <a:rPr lang="pt-BR">
                <a:ea typeface="+mn-lt"/>
                <a:cs typeface="+mn-lt"/>
              </a:rPr>
              <a:t>A camada GOLD foi modelada seguindo os </a:t>
            </a:r>
            <a:r>
              <a:rPr lang="pt-BR" b="1">
                <a:ea typeface="+mn-lt"/>
                <a:cs typeface="+mn-lt"/>
              </a:rPr>
              <a:t>princípios de um modelo dimensional orientado a </a:t>
            </a:r>
            <a:r>
              <a:rPr lang="pt-BR" b="1" err="1">
                <a:ea typeface="+mn-lt"/>
                <a:cs typeface="+mn-lt"/>
              </a:rPr>
              <a:t>analytics</a:t>
            </a:r>
            <a:r>
              <a:rPr lang="pt-BR">
                <a:ea typeface="+mn-lt"/>
                <a:cs typeface="+mn-lt"/>
              </a:rPr>
              <a:t>, com uma tabela fato central (</a:t>
            </a:r>
            <a:r>
              <a:rPr lang="pt-BR" err="1">
                <a:latin typeface="Consolas"/>
                <a:ea typeface="Calibri"/>
                <a:cs typeface="Calibri"/>
              </a:rPr>
              <a:t>fact_lead_journey</a:t>
            </a:r>
            <a:r>
              <a:rPr lang="pt-BR">
                <a:ea typeface="+mn-lt"/>
                <a:cs typeface="+mn-lt"/>
              </a:rPr>
              <a:t>) no grão de </a:t>
            </a:r>
            <a:r>
              <a:rPr lang="pt-BR" b="1">
                <a:ea typeface="+mn-lt"/>
                <a:cs typeface="+mn-lt"/>
              </a:rPr>
              <a:t>uma linha por lead</a:t>
            </a:r>
            <a:r>
              <a:rPr lang="pt-BR">
                <a:ea typeface="+mn-lt"/>
                <a:cs typeface="+mn-lt"/>
              </a:rPr>
              <a:t>, concentrando as principais métricas de negócio, como conversão e tempo até conversão.</a:t>
            </a:r>
          </a:p>
          <a:p>
            <a:pPr>
              <a:defRPr sz="1400"/>
            </a:pPr>
            <a:r>
              <a:rPr lang="pt-BR">
                <a:ea typeface="+mn-lt"/>
                <a:cs typeface="+mn-lt"/>
              </a:rPr>
              <a:t>As dimensões de análise (canal, campanha e tempo) foram mantidas </a:t>
            </a:r>
            <a:r>
              <a:rPr lang="pt-BR" b="1" err="1">
                <a:ea typeface="+mn-lt"/>
                <a:cs typeface="+mn-lt"/>
              </a:rPr>
              <a:t>desnormalizadas</a:t>
            </a:r>
            <a:r>
              <a:rPr lang="pt-BR" b="1">
                <a:ea typeface="+mn-lt"/>
                <a:cs typeface="+mn-lt"/>
              </a:rPr>
              <a:t> como dimensões degeneradas</a:t>
            </a:r>
            <a:r>
              <a:rPr lang="pt-BR">
                <a:ea typeface="+mn-lt"/>
                <a:cs typeface="+mn-lt"/>
              </a:rPr>
              <a:t> na própria tabela fato, simplificando consultas, reduzindo a necessidade de </a:t>
            </a:r>
            <a:r>
              <a:rPr lang="pt-BR" err="1">
                <a:ea typeface="+mn-lt"/>
                <a:cs typeface="+mn-lt"/>
              </a:rPr>
              <a:t>joins</a:t>
            </a:r>
            <a:r>
              <a:rPr lang="pt-BR">
                <a:ea typeface="+mn-lt"/>
                <a:cs typeface="+mn-lt"/>
              </a:rPr>
              <a:t> e melhorando a performance para ferramentas de BI.</a:t>
            </a:r>
          </a:p>
          <a:p>
            <a:pPr>
              <a:defRPr sz="1400"/>
            </a:pPr>
            <a:r>
              <a:rPr lang="pt-BR">
                <a:ea typeface="+mn-lt"/>
                <a:cs typeface="+mn-lt"/>
              </a:rPr>
              <a:t>Esse modelo é amplamente adotado em data </a:t>
            </a:r>
            <a:r>
              <a:rPr lang="pt-BR" err="1">
                <a:ea typeface="+mn-lt"/>
                <a:cs typeface="+mn-lt"/>
              </a:rPr>
              <a:t>warehouses</a:t>
            </a:r>
            <a:r>
              <a:rPr lang="pt-BR">
                <a:ea typeface="+mn-lt"/>
                <a:cs typeface="+mn-lt"/>
              </a:rPr>
              <a:t> modernos para casos de uso analíticos e </a:t>
            </a:r>
            <a:r>
              <a:rPr lang="pt-BR" b="1">
                <a:ea typeface="+mn-lt"/>
                <a:cs typeface="+mn-lt"/>
              </a:rPr>
              <a:t>pode evoluir para um star </a:t>
            </a:r>
            <a:r>
              <a:rPr lang="pt-BR" b="1" err="1">
                <a:ea typeface="+mn-lt"/>
                <a:cs typeface="+mn-lt"/>
              </a:rPr>
              <a:t>schema</a:t>
            </a:r>
            <a:r>
              <a:rPr lang="pt-BR" b="1">
                <a:ea typeface="+mn-lt"/>
                <a:cs typeface="+mn-lt"/>
              </a:rPr>
              <a:t> totalmente normalizado</a:t>
            </a:r>
            <a:r>
              <a:rPr lang="pt-BR">
                <a:ea typeface="+mn-lt"/>
                <a:cs typeface="+mn-lt"/>
              </a:rPr>
              <a:t>, com dimensões separadas, conforme a complexidade e a reutilização do modelo aumentem.</a:t>
            </a:r>
          </a:p>
          <a:p>
            <a:pPr>
              <a:defRPr sz="1400"/>
            </a:pPr>
            <a:endParaRPr lang="pt-BR">
              <a:ea typeface="Calibri"/>
              <a:cs typeface="Calibri"/>
            </a:endParaRPr>
          </a:p>
          <a:p>
            <a:pPr>
              <a:defRPr sz="1400"/>
            </a:pPr>
            <a:endParaRPr lang="pt-BR">
              <a:ea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EF630E-EC0C-3D62-478C-804C06D972F4}"/>
              </a:ext>
            </a:extLst>
          </p:cNvPr>
          <p:cNvSpPr txBox="1"/>
          <p:nvPr/>
        </p:nvSpPr>
        <p:spPr>
          <a:xfrm>
            <a:off x="4812081" y="1111683"/>
            <a:ext cx="1868466" cy="44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3C78"/>
                </a:solidFill>
                <a:latin typeface="Calibri"/>
              </a:rPr>
              <a:t>Wide Fact</a:t>
            </a:r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720000"/>
            <a:ext cx="9360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C78"/>
                </a:solidFill>
              </a:defRPr>
            </a:pPr>
            <a:r>
              <a:t>Estrutura das Tabelas – GOLD (modelo analítico)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9360000" cy="11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A camada GOLD é consumida pelo Power BI/Looker e concentra regras de negócio.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Fato central: fact_lead_journey (1 linha por lead) – ideal para métricas de conversão.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000925"/>
              </p:ext>
            </p:extLst>
          </p:nvPr>
        </p:nvGraphicFramePr>
        <p:xfrm>
          <a:off x="187644" y="2545973"/>
          <a:ext cx="8747524" cy="246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Tabela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Grão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Chave(s)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Campos / métricas (exemplos)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gold_case.fact_lead_journey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1 linha por lead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lead_id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converted_flag, days_to_convert, lead_created_at, conversion_ts, channel, campaign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gold_case.fact_ga_session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1 linha por sessão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session_id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pageviews, engagement_seconds, session_start_ts, landing_page, campaign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gold_case.fact_funnel_event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1 linha por evento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lead_id+event_ts+stage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stage, is_conversion, event_ts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gold_case.vw_conversion_by_channel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agregado por canal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leads, converted, conversion_rate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9562" y="365095"/>
            <a:ext cx="9360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C78"/>
                </a:solidFill>
              </a:defRPr>
            </a:pPr>
            <a:r>
              <a:t>Dicionário de Dados – gold_case.fact_lead_journey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9205" y="766602"/>
            <a:ext cx="86293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Grão: 1 linha por lead (lead_id).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Uso: métricas de conversão por canal/campanha e tempo até conversão.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383942"/>
              </p:ext>
            </p:extLst>
          </p:nvPr>
        </p:nvGraphicFramePr>
        <p:xfrm>
          <a:off x="1169095" y="1711890"/>
          <a:ext cx="6446467" cy="384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45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err="1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lead_id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Identificador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único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do lead (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chave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customer_id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Id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do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cliente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quando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aplicável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017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first_touch_ts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Primeiro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contato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(tracking/UTM).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lead_created_at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Data/hora de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criação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no CRM.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4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conversion_ts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Data/hora da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conversão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(WON) –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mínimo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por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lead.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01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Canal de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origem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paid_search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, email, etc.).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Origem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(ex.: google, meta,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crm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Meio (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cpc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, organic, email, etc.).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campaign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Campanha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(UTM campaign).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99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converted_flag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1 se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converteu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,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senão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0.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042">
                <a:tc>
                  <a:txBody>
                    <a:bodyPr/>
                    <a:lstStyle/>
                    <a:p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days_to_convert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</a:rPr>
                        <a:t>Dias entre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lead_created_at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 e </a:t>
                      </a:r>
                      <a:r>
                        <a:rPr sz="900" b="0" err="1">
                          <a:solidFill>
                            <a:srgbClr val="1E1E1E"/>
                          </a:solidFill>
                        </a:rPr>
                        <a:t>conversion_ts</a:t>
                      </a:r>
                      <a:r>
                        <a:rPr sz="900" b="0">
                          <a:solidFill>
                            <a:srgbClr val="1E1E1E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_cruzeiro_no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0795" y="271151"/>
            <a:ext cx="864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C78"/>
                </a:solidFill>
              </a:defRPr>
            </a:pPr>
            <a:r>
              <a:t>Visualizações – Visão Executiva (Power BI)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795" y="1173699"/>
            <a:ext cx="7788658" cy="4022630"/>
          </a:xfrm>
          <a:prstGeom prst="rect">
            <a:avLst/>
          </a:prstGeom>
          <a:solidFill>
            <a:srgbClr val="FFFFFF"/>
          </a:solidFill>
          <a:ln w="254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Cole aqui o print do dashboard (KPIs + visão geral)</a:t>
            </a:r>
          </a:p>
        </p:txBody>
      </p: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57A88CD-1158-EACA-C278-964A44F05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2644"/>
            <a:ext cx="9144000" cy="53396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5</cp:revision>
  <dcterms:created xsi:type="dcterms:W3CDTF">2013-01-27T09:14:16Z</dcterms:created>
  <dcterms:modified xsi:type="dcterms:W3CDTF">2026-01-28T16:43:09Z</dcterms:modified>
  <cp:category/>
</cp:coreProperties>
</file>